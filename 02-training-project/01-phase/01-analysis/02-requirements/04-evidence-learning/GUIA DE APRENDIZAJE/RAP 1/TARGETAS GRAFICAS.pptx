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914400"/>
            <a:ext cx="5029200" cy="5029200"/>
          </a:xfrm>
          <a:prstGeom prst="ellipse">
            <a:avLst/>
          </a:prstGeom>
          <a:solidFill>
            <a:srgbClr val="1122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3749040" cy="3749040"/>
          </a:xfrm>
          <a:prstGeom prst="ellipse">
            <a:avLst/>
          </a:prstGeom>
          <a:solidFill>
            <a:srgbClr val="0D1B2A"/>
          </a:solidFill>
          <a:ln w="6350">
            <a:solidFill>
              <a:srgbClr val="00C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1371600" cy="347472"/>
          </a:xfrm>
          <a:prstGeom prst="roundRect">
            <a:avLst>
              <a:gd name="adj" fmla="val 10526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GPU • VRAM • FPS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</a:rPr>
              <a:t>TARJETAS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</a:rPr>
              <a:t>GRÁFICAS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F4F8"/>
                </a:solidFill>
              </a:rPr>
              <a:t>Todo lo que necesitas saber sobre el procesador de gráficos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4572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A3A5C"/>
                </a:solidFill>
              </a:rPr>
              <a:t>GPU</a:t>
            </a:r>
            <a:endParaRPr lang="en-US" sz="6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A3A"/>
                </a:solidFill>
              </a:rPr>
              <a:t>¿Qué es una GPU?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6B4"/>
                </a:solidFill>
              </a:rPr>
              <a:t>GPU</a:t>
            </a:r>
            <a:pPr algn="l" indent="0" marL="0">
              <a:buNone/>
            </a:pPr>
            <a:r>
              <a:rPr lang="en-US" sz="1400" dirty="0">
                <a:solidFill>
                  <a:srgbClr val="1A2A3A"/>
                </a:solidFill>
              </a:rPr>
              <a:t> = Graphics Processing Unit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5A7A"/>
                </a:solidFill>
              </a:rPr>
              <a:t>Procesador especializado con miles de núcleos pequeños diseñados para ejecutar millones de cálculos de forma simultánea.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EA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CPU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4 – 16 núcleos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MUY potentes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Tareas complejas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secuenciales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069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A7A"/>
                </a:solidFill>
              </a:rPr>
              <a:t>8 chefs expertos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14884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E0FF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6B4"/>
                </a:solidFill>
              </a:rPr>
              <a:t>GPU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651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Miles de núcleos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pequeños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Procesamiento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paralelo masivo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4069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B4"/>
                </a:solidFill>
              </a:rPr>
              <a:t>4,000 ayudantes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78608" y="3154680"/>
            <a:ext cx="530352" cy="5303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3154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9601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E4"/>
                </a:solidFill>
              </a:rPr>
              <a:t>¿Por qué importa?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🎮  Renderizado de videojuegos en alta calidad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240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🎬  Edición de video y efectos visuales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926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🤖  Entrenamiento de modelos de 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📐  Diseño 3D y renderizado profesional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VRAM — Memoria de Video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F4F8"/>
                </a:solidFill>
              </a:rPr>
              <a:t>La memoria propia de la GPU: guarda texturas, frames y datos visuales en tiempo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960120" cy="274320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63040"/>
            <a:ext cx="96012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AA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700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 GB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90672"/>
            <a:ext cx="1051560" cy="256032"/>
          </a:xfrm>
          <a:prstGeom prst="roundRect">
            <a:avLst>
              <a:gd name="adj" fmla="val 10714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GDDR6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Juegos básicos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1080p baja calidad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0A5A7C"/>
          </a:solidFill>
          <a:ln/>
        </p:spPr>
      </p:sp>
      <p:sp>
        <p:nvSpPr>
          <p:cNvPr id="13" name="Shape 11"/>
          <p:cNvSpPr/>
          <p:nvPr/>
        </p:nvSpPr>
        <p:spPr>
          <a:xfrm>
            <a:off x="2971800" y="2011680"/>
            <a:ext cx="960120" cy="548640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463040"/>
            <a:ext cx="96012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AA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6700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 GB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80360" y="3090672"/>
            <a:ext cx="1051560" cy="256032"/>
          </a:xfrm>
          <a:prstGeom prst="roundRect">
            <a:avLst>
              <a:gd name="adj" fmla="val 10714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GDDR6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32888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Gaming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1080p / 1440p estándar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32588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006A8E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1737360"/>
            <a:ext cx="960120" cy="822960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463040"/>
            <a:ext cx="96012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AA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700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12–16 GB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3090672"/>
            <a:ext cx="1051560" cy="256032"/>
          </a:xfrm>
          <a:prstGeom prst="roundRect">
            <a:avLst>
              <a:gd name="adj" fmla="val 10714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GDDR6X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81728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4K, diseño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profesional, IA básica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132588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007FAD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1463040"/>
            <a:ext cx="960120" cy="1097280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9480" y="1463040"/>
            <a:ext cx="96012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AA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6700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24 GB+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78040" y="3090672"/>
            <a:ext cx="1051560" cy="256032"/>
          </a:xfrm>
          <a:prstGeom prst="roundRect">
            <a:avLst>
              <a:gd name="adj" fmla="val 10714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GDDR6X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30568" y="342900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Modelos de IA,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renderizado pro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B8CC"/>
                </a:solidFill>
              </a:rPr>
              <a:t>Tipo más común hoy: GDDR6 y GDDR6X  •  Más GB = mejor para resoluciones altas y tareas de IA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A3A"/>
                </a:solidFill>
              </a:rPr>
              <a:t>iGPU vs dGPU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A5A7A"/>
                </a:solidFill>
              </a:rPr>
              <a:t>GPU Integrada  vs  GPU Dedicada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DDEE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1188720"/>
            <a:ext cx="1143000" cy="1143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iGPU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📍 Ubicación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Dentro del procesador (CPU)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💾 Memoria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2907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Usa la RAM del sistema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⚡ Potencia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48840" y="33467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Baja — tareas livianas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7856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💡 Ejemplo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37856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Intel UHD, AMD Vega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✅ Úsala para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Ofimática, navegación, video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E0FF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188720"/>
            <a:ext cx="1143000" cy="1143000"/>
          </a:xfrm>
          <a:prstGeom prst="ellipse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dGPU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B4"/>
                </a:solidFill>
              </a:rPr>
              <a:t>📍 Ubicación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Tarjeta independiente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290779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B4"/>
                </a:solidFill>
              </a:rPr>
              <a:t>💾 Memoria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2907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VRAM propia (no comparte)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33467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B4"/>
                </a:solidFill>
              </a:rPr>
              <a:t>⚡ Potencia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0" y="33467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Alta — tareas exigentes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7856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B4"/>
                </a:solidFill>
              </a:rPr>
              <a:t>💡 Ejemplo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5120" y="37856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RTX 4060, RX 7800 XT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42245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6B4"/>
                </a:solidFill>
              </a:rPr>
              <a:t>✅ Úsala para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</a:rPr>
              <a:t>Gaming, diseño, IA, 3D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Resoluciones y FPS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9E4"/>
                </a:solidFill>
              </a:rPr>
              <a:t>RESOLUCIÓN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572000" cy="1097280"/>
          </a:xfrm>
          <a:prstGeom prst="roundRect">
            <a:avLst>
              <a:gd name="adj" fmla="val 5833"/>
            </a:avLst>
          </a:prstGeom>
          <a:solidFill>
            <a:srgbClr val="1A3050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32588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1080p  Full HD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C9E4"/>
                </a:solidFill>
              </a:rPr>
              <a:t>1920 × 1080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La más común. Cualquier GPU moderna la maneja.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572000" cy="1097280"/>
          </a:xfrm>
          <a:prstGeom prst="roundRect">
            <a:avLst>
              <a:gd name="adj" fmla="val 5833"/>
            </a:avLst>
          </a:prstGeom>
          <a:solidFill>
            <a:srgbClr val="1A3050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2560320"/>
            <a:ext cx="274320" cy="27432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32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1440p  2K / QHD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862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C9E4"/>
                </a:solidFill>
              </a:rPr>
              <a:t>2560 × 1440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86207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El punto dulce calidad/precio del mercado hoy.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4572000" cy="1097280"/>
          </a:xfrm>
          <a:prstGeom prst="roundRect">
            <a:avLst>
              <a:gd name="adj" fmla="val 5833"/>
            </a:avLst>
          </a:prstGeom>
          <a:solidFill>
            <a:srgbClr val="1A30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379476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673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4K  Ultra HD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C9E4"/>
                </a:solidFill>
              </a:rPr>
              <a:t>3840 × 2160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09651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Muy exigente. Requiere GPU de gama alta.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6636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C9E4"/>
                </a:solidFill>
              </a:rPr>
              <a:t>FPS — FOTOGRAMAS POR SEGUNDO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20700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30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943600" y="1298448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1A305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1298448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1664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Jugable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19019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Se siente lento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6360" y="212140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ACC15"/>
                </a:solidFill>
              </a:rPr>
              <a:t>60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943600" y="2212848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1A3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2212848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ACC15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578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Estándar cómodo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0" y="28163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La mayoría de juegos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303580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144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943600" y="3127248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1A3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0" y="3127248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4930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Gaming fluido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0" y="37307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Monitor 144Hz necesario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395020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C9E4"/>
                </a:solidFill>
              </a:rPr>
              <a:t>240+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943600" y="4041648"/>
            <a:ext cx="2834640" cy="320040"/>
          </a:xfrm>
          <a:prstGeom prst="roundRect">
            <a:avLst>
              <a:gd name="adj" fmla="val 14286"/>
            </a:avLst>
          </a:prstGeom>
          <a:solidFill>
            <a:srgbClr val="1A3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4041648"/>
            <a:ext cx="3291840" cy="320040"/>
          </a:xfrm>
          <a:prstGeom prst="roundRect">
            <a:avLst>
              <a:gd name="adj" fmla="val 14286"/>
            </a:avLst>
          </a:prstGeom>
          <a:solidFill>
            <a:srgbClr val="00C9E4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44074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Competitivo pro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0" y="4645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BB"/>
                </a:solidFill>
              </a:rPr>
              <a:t>E-sports profesional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A3A"/>
                </a:solidFill>
              </a:rPr>
              <a:t>Los Tres Fabricantes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4069080"/>
          </a:xfrm>
          <a:prstGeom prst="roundRect">
            <a:avLst>
              <a:gd name="adj" fmla="val 3390"/>
            </a:avLst>
          </a:prstGeom>
          <a:solidFill>
            <a:srgbClr val="F0FFF0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76B90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71600"/>
            <a:ext cx="2697480" cy="32004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NVIDIA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900"/>
                </a:solidFill>
              </a:rPr>
              <a:t>Serie RTX / GTX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14884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6B900"/>
                </a:solidFill>
              </a:rPr>
              <a:t>POSICIÓN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Líderes del mercado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30175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6B900"/>
                </a:solidFill>
              </a:rPr>
              <a:t>TECNOLOGÍA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Ray Tracing + DLSS (IA)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388620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6B900"/>
                </a:solidFill>
              </a:rPr>
              <a:t>EJEMPLOS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RTX 4060  •  RTX 4070  •  RTX 4090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2697480" cy="4069080"/>
          </a:xfrm>
          <a:prstGeom prst="roundRect">
            <a:avLst>
              <a:gd name="adj" fmla="val 3390"/>
            </a:avLst>
          </a:prstGeom>
          <a:solidFill>
            <a:srgbClr val="FFF5F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686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ED1C2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1371600"/>
            <a:ext cx="2697480" cy="32004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91440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AMD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91840" y="17190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1C24"/>
                </a:solidFill>
              </a:rPr>
              <a:t>Serie Radeon RX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214884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D1C24"/>
                </a:solidFill>
              </a:rPr>
              <a:t>POSICIÓN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64992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Mejor precio / rendimiento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30175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D1C24"/>
                </a:solidFill>
              </a:rPr>
              <a:t>TECNOLOGÍA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FSR — FidelityFX Super Resolution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388620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D1C24"/>
                </a:solidFill>
              </a:rPr>
              <a:t>EJEMPLOS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64992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RX 7600  •  RX 7800 XT  •  RX 7900 XTX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868680"/>
            <a:ext cx="2697480" cy="4069080"/>
          </a:xfrm>
          <a:prstGeom prst="roundRect">
            <a:avLst>
              <a:gd name="adj" fmla="val 3390"/>
            </a:avLst>
          </a:prstGeom>
          <a:solidFill>
            <a:srgbClr val="F0F4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86868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0071C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0760" y="1371600"/>
            <a:ext cx="2697480" cy="320040"/>
          </a:xfrm>
          <a:prstGeom prst="rect">
            <a:avLst/>
          </a:prstGeom>
          <a:solidFill>
            <a:srgbClr val="0071C5"/>
          </a:solidFill>
          <a:ln w="12700">
            <a:solidFill>
              <a:srgbClr val="0071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914400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Intel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172200" y="17190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C5"/>
                </a:solidFill>
              </a:rPr>
              <a:t>Serie Arc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45352" y="214884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71C5"/>
                </a:solidFill>
              </a:rPr>
              <a:t>POSICIÓN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45352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Nuevo desde 2022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30175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71C5"/>
                </a:solidFill>
              </a:rPr>
              <a:t>TECNOLOGÍA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45352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XeSS — Xe Super Sampling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45352" y="388620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71C5"/>
                </a:solidFill>
              </a:rPr>
              <a:t>EJEMPLOS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45352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</a:rPr>
              <a:t>Arc A750  •  Arc B580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Gamas de Rendimiento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384048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64B5F6">
              <a:alpha val="80000"/>
            </a:srgbClr>
          </a:solidFill>
          <a:ln w="19050">
            <a:solidFill>
              <a:srgbClr val="64B5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ENTRADA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2245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B5F6"/>
                </a:solidFill>
              </a:rPr>
              <a:t>RTX 3050 · RX 6500 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919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1080p baja / media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347472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42A5F5">
              <a:alpha val="80000"/>
            </a:srgbClr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38587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$$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</a:rPr>
              <a:t>RTX 4060 · RX 7700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4919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1080p / 1440p alta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10896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1E88E5">
              <a:alpha val="80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154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34930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$$$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8E5"/>
                </a:solidFill>
              </a:rPr>
              <a:t>RTX 4070 Ti · RX 7900 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4919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1440p / 4K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2743200"/>
            <a:ext cx="1737360" cy="1920240"/>
          </a:xfrm>
          <a:prstGeom prst="roundRect">
            <a:avLst>
              <a:gd name="adj" fmla="val 3158"/>
            </a:avLst>
          </a:prstGeom>
          <a:solidFill>
            <a:srgbClr val="00C9E4">
              <a:alpha val="80000"/>
            </a:srgbClr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1272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$$$$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E4"/>
                </a:solidFill>
              </a:rPr>
              <a:t>RTX 4090 · RX 7900 XTX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4919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4K máximo · Pro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AABB"/>
                </a:solidFill>
              </a:rPr>
              <a:t>← Más asequible   ·   Más rendimiento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Resumen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1A305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686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</a:rPr>
              <a:t>🔲  GPU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Procesador de gráficos — miles de núcleos para cálculo paralelo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1A305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745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</a:rPr>
              <a:t>💾  VRAM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Memoria propia de la GPU — más GB = mejor para resoluciones altas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1A305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8803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</a:rPr>
              <a:t>🔗  iGPU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Integrada al CPU — suficiente para tareas básicas y oficina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1A305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8862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</a:rPr>
              <a:t>🎮  dGPU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22452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Tarjeta dedicada — para gaming, diseño profesional e 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1A305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8686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</a:rPr>
              <a:t>📺  FPS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20700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Fotogramas por segundo — más FPS = imagen más fluida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82880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1A305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8745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</a:rPr>
              <a:t>🏭  Fabricantes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2128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NVIDIA (RTX)  ·  AMD (RX)  ·  Intel (Arc)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1A305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8803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E4"/>
                </a:solidFill>
              </a:rPr>
              <a:t>📊  Gamas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21868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Entrada → Media → Alta → Extrema (precio y rendimiento crecientes)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Tarjetas Gráficas</dc:title>
  <dc:subject>PptxGenJS Presentation</dc:subject>
  <dc:creator>PptxGenJS</dc:creator>
  <cp:lastModifiedBy>PptxGenJS</cp:lastModifiedBy>
  <cp:revision>1</cp:revision>
  <dcterms:created xsi:type="dcterms:W3CDTF">2026-05-09T19:19:18Z</dcterms:created>
  <dcterms:modified xsi:type="dcterms:W3CDTF">2026-05-09T19:19:18Z</dcterms:modified>
</cp:coreProperties>
</file>