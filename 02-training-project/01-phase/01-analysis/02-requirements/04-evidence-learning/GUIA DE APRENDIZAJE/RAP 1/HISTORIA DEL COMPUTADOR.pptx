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fDpRuzMAcTTERNXUoQXrHhUm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1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1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1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1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1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1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1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1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1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1"/>
          <p:cNvSpPr/>
          <p:nvPr/>
        </p:nvSpPr>
        <p:spPr>
          <a:xfrm>
            <a:off x="457200" y="731520"/>
            <a:ext cx="8229600" cy="3657600"/>
          </a:xfrm>
          <a:prstGeom prst="rect">
            <a:avLst/>
          </a:prstGeom>
          <a:solidFill>
            <a:srgbClr val="161B22">
              <a:alpha val="80000"/>
            </a:srgbClr>
          </a:solidFill>
          <a:ln cap="flat" cmpd="sng" w="190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457200" y="731520"/>
            <a:ext cx="109728" cy="3657600"/>
          </a:xfrm>
          <a:prstGeom prst="rect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HISTORIA DEL COMPUTADOR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Hardware &amp; Software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Del ábaco a la inteligencia artificial — una historia de innovación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1"/>
          <p:cNvCxnSpPr/>
          <p:nvPr/>
        </p:nvCxnSpPr>
        <p:spPr>
          <a:xfrm>
            <a:off x="914400" y="3291840"/>
            <a:ext cx="7132320" cy="0"/>
          </a:xfrm>
          <a:prstGeom prst="straightConnector1">
            <a:avLst/>
          </a:prstGeom>
          <a:noFill/>
          <a:ln cap="flat" cmpd="sng" w="190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"/>
          <p:cNvSpPr/>
          <p:nvPr/>
        </p:nvSpPr>
        <p:spPr>
          <a:xfrm>
            <a:off x="850392" y="3227832"/>
            <a:ext cx="128016" cy="128016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548640" y="3401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1940s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313432" y="3227832"/>
            <a:ext cx="128016" cy="128016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2011680" y="3401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1950s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3776472" y="3227832"/>
            <a:ext cx="128016" cy="128016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3474720" y="3401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1970s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5239512" y="3227832"/>
            <a:ext cx="128016" cy="128016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4937760" y="3401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1980s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6336792" y="3227832"/>
            <a:ext cx="128016" cy="128016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6035040" y="3401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2000s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7616952" y="3227832"/>
            <a:ext cx="128016" cy="128016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7315200" y="3401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📜  ORÍGENES DEL COMPUTADOR (Antes de 1940)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74320" y="914400"/>
            <a:ext cx="4114800" cy="118872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74320" y="914400"/>
            <a:ext cx="73152" cy="1188720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38912" y="98755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🧮  Ábaco (3000 a.C.)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38912" y="1298448"/>
            <a:ext cx="38587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Primera herramienta de cálculo usada en Mesopotamia. Permitía sumar y restar con cuentas en filas.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74320" y="2240280"/>
            <a:ext cx="4114800" cy="118872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274320" y="2240280"/>
            <a:ext cx="73152" cy="1188720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38912" y="231343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⚙️  Máquina de Pascal (1642)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38912" y="2624328"/>
            <a:ext cx="38587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Blaise Pascal inventó la Pascalina, primera calculadora mecánica que realizaba sumas automáticamente.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274320" y="3566160"/>
            <a:ext cx="73152" cy="1188720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38912" y="363931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🔧  Motor Diferencial de Babbage (1822)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38912" y="3950208"/>
            <a:ext cx="38587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Charles Babbage diseñó el primer computador mecánico. Su 'Motor Analítico' tenía memoria y unidad aritmética.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709160" y="914400"/>
            <a:ext cx="4114800" cy="118872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4709160" y="914400"/>
            <a:ext cx="73152" cy="1188720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873752" y="98755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💡  Ada Lovelace (1843)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4873752" y="1298448"/>
            <a:ext cx="38587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Primera programadora de la historia. Escribió el primer algoritmo destinado a ser procesado por una máquina.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4709160" y="2240280"/>
            <a:ext cx="4114800" cy="118872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4709160" y="2240280"/>
            <a:ext cx="73152" cy="1188720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873752" y="231343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🔌  Tarjetas Perforadas de Hollerith (1890)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873752" y="2624328"/>
            <a:ext cx="38587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Herman Hollerith usó tarjetas perforadas para el censo de EE.UU., antecedente directo de la informática moderna.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 1ª GENERACIÓN: Tubos de Vacío (1940–1956)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4320" y="914400"/>
            <a:ext cx="5029200" cy="38404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CD85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853F"/>
                </a:solidFill>
                <a:latin typeface="Calibri"/>
                <a:ea typeface="Calibri"/>
                <a:cs typeface="Calibri"/>
                <a:sym typeface="Calibri"/>
              </a:rPr>
              <a:t>🔬  ENIAC (1945)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13258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 computador electrónico general. Pesaba 30 toneladas y usaba 18,000 tubos de vacío.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853F"/>
                </a:solidFill>
                <a:latin typeface="Calibri"/>
                <a:ea typeface="Calibri"/>
                <a:cs typeface="Calibri"/>
                <a:sym typeface="Calibri"/>
              </a:rPr>
              <a:t>🖥️  UNIVAC I (1951)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7200" y="22402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 computador comercial. Procesaba 1,000 operaciones por segundo.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2834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853F"/>
                </a:solidFill>
                <a:latin typeface="Calibri"/>
                <a:ea typeface="Calibri"/>
                <a:cs typeface="Calibri"/>
                <a:sym typeface="Calibri"/>
              </a:rPr>
              <a:t>💾  Almacenamiento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57200" y="31546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Tarjetas perforadas y cintas magnéticas. Sin discos duros.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3749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853F"/>
                </a:solidFill>
                <a:latin typeface="Calibri"/>
                <a:ea typeface="Calibri"/>
                <a:cs typeface="Calibri"/>
                <a:sym typeface="Calibri"/>
              </a:rPr>
              <a:t>⚡  Velocidad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57200" y="4069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Miles de operaciones por segundo. Consumía enormes cantidades de electricidad.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577840" y="914400"/>
            <a:ext cx="329184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CD85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577840" y="10058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D853F"/>
                </a:solidFill>
                <a:latin typeface="Arial Black"/>
                <a:ea typeface="Arial Black"/>
                <a:cs typeface="Arial Black"/>
                <a:sym typeface="Arial Black"/>
              </a:rPr>
              <a:t>18,000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577840" y="15087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Tubos de vacío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 ENIAC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577840" y="2240280"/>
            <a:ext cx="329184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CD85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577840" y="23317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D853F"/>
                </a:solidFill>
                <a:latin typeface="Arial Black"/>
                <a:ea typeface="Arial Black"/>
                <a:cs typeface="Arial Black"/>
                <a:sym typeface="Arial Black"/>
              </a:rPr>
              <a:t>30 ton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577840" y="28346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Peso 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ENIAC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577840" y="3566160"/>
            <a:ext cx="329184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CD85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577840" y="36576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853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D853F"/>
                </a:solidFill>
                <a:latin typeface="Arial Black"/>
                <a:ea typeface="Arial Black"/>
                <a:cs typeface="Arial Black"/>
                <a:sym typeface="Arial Black"/>
              </a:rPr>
              <a:t>1945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577840" y="41605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Año del primer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computador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1A"/>
          </a:solidFill>
          <a:ln cap="flat" cmpd="sng" w="12700">
            <a:solidFill>
              <a:srgbClr val="1A6B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 2ª y 3ª GENERACIÓN: Transistores y Circuitos Integrados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4320" y="914400"/>
            <a:ext cx="4160520" cy="38404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74320" y="914400"/>
            <a:ext cx="4160520" cy="411480"/>
          </a:xfrm>
          <a:prstGeom prst="rect">
            <a:avLst/>
          </a:prstGeom>
          <a:solidFill>
            <a:srgbClr val="39D353">
              <a:alpha val="30196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9601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🔋  2ª Generación (1956–1963)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65760" y="1389888"/>
            <a:ext cx="393192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Transistores reemplazan los tubos de vacío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Computadores más pequeños, rápidos y confiables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IBM 1401: primer computador de transistores exitoso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Aparece el lenguaje ensamblador (Assembly)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Primeros lenguajes: FORTRAN y COBOL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Consumo eléctrico reducido en 90%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84048" y="1444752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30352" y="139903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Transistores reemplazan los tubos de vacío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84048" y="1965960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30352" y="192024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Computadores más pequeños, rápidos y confiables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84048" y="2487168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530352" y="2441448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IBM 1401: primer computador de transistores exitoso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4048" y="3008376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30352" y="2962656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Aparece el lenguaje ensamblador (Assembly)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84048" y="3529584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30352" y="3483864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Primeros lenguajes: FORTRAN y COBOL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4048" y="4050792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30352" y="400507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Consumo eléctrico reducido en 90%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46320" y="914400"/>
            <a:ext cx="4160520" cy="38404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846320" y="914400"/>
            <a:ext cx="4160520" cy="411480"/>
          </a:xfrm>
          <a:prstGeom prst="rect">
            <a:avLst/>
          </a:prstGeom>
          <a:solidFill>
            <a:srgbClr val="58A6FF">
              <a:alpha val="30196"/>
            </a:srgbClr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937760" y="9601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💎  3ª Generación (1963–1971)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937760" y="1389888"/>
            <a:ext cx="393192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Circuitos Integrados (chips) con miles de transistores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IBM System/360: familia de computadores compatibles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Monitor y teclado reemplazan las tarjetas perforadas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Surge el concepto de sistema operativo (OS)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Lenguaje C comienza su desarrollo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Computadores en universidades y grandes empresas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956048" y="1444752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102352" y="139903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Circuitos Integrados (chips) con miles de transistores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956048" y="1965960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5102352" y="192024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IBM System/360: familia de computadores compatibles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956048" y="2487168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5102352" y="2441448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Monitor y teclado reemplazan las tarjetas perforadas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956048" y="3008376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102352" y="2962656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Surge el concepto de sistema operativo (OS)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956048" y="3529584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102352" y="3483864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Lenguaje C comienza su desarrollo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956048" y="4050792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102352" y="400507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Computadores en universidades y grandes empresas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8CFF"/>
          </a:solidFill>
          <a:ln cap="flat" cmpd="sng" w="12700">
            <a:solidFill>
              <a:srgbClr val="6B3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🖥️  4ª GENERACIÓN: Microprocesadores y la PC (1971–1990)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365760" y="2011680"/>
            <a:ext cx="8412480" cy="0"/>
          </a:xfrm>
          <a:prstGeom prst="straightConnector1">
            <a:avLst/>
          </a:prstGeom>
          <a:noFill/>
          <a:ln cap="flat" cmpd="sng" w="254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5"/>
          <p:cNvSpPr/>
          <p:nvPr/>
        </p:nvSpPr>
        <p:spPr>
          <a:xfrm>
            <a:off x="795528" y="1947672"/>
            <a:ext cx="146304" cy="146304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5"/>
          <p:cNvCxnSpPr/>
          <p:nvPr/>
        </p:nvCxnSpPr>
        <p:spPr>
          <a:xfrm>
            <a:off x="868680" y="14173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BC8C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320040" y="868680"/>
            <a:ext cx="1280160" cy="109728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20040" y="9144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1971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20040" y="1170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 4004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65760" y="13807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Primer microprocesador del mundo. 2,300 transistores en un chip.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212848" y="1947672"/>
            <a:ext cx="146304" cy="146304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5"/>
          <p:cNvCxnSpPr/>
          <p:nvPr/>
        </p:nvCxnSpPr>
        <p:spPr>
          <a:xfrm>
            <a:off x="2286000" y="2084832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BC8C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1737360" y="2377440"/>
            <a:ext cx="1280160" cy="123444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737360" y="24231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1975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737360" y="26791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Altair 8800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1783080" y="288950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Primer microcomputador personal en kit, popularizó la idea de la PC.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630168" y="1947672"/>
            <a:ext cx="146304" cy="146304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5"/>
          <p:cNvCxnSpPr/>
          <p:nvPr/>
        </p:nvCxnSpPr>
        <p:spPr>
          <a:xfrm>
            <a:off x="3703320" y="14173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BC8C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5"/>
          <p:cNvSpPr/>
          <p:nvPr/>
        </p:nvSpPr>
        <p:spPr>
          <a:xfrm>
            <a:off x="3154680" y="868680"/>
            <a:ext cx="1280160" cy="109728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154680" y="9144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1976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154680" y="1170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Apple 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200400" y="13807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Steve Wozniak construye la Apple I. Steve Jobs la comercializa.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047488" y="1947672"/>
            <a:ext cx="146304" cy="146304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5"/>
          <p:cNvCxnSpPr/>
          <p:nvPr/>
        </p:nvCxnSpPr>
        <p:spPr>
          <a:xfrm>
            <a:off x="5120640" y="2084832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BC8C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5"/>
          <p:cNvSpPr/>
          <p:nvPr/>
        </p:nvSpPr>
        <p:spPr>
          <a:xfrm>
            <a:off x="4572000" y="2377440"/>
            <a:ext cx="1280160" cy="123444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572000" y="24231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1981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572000" y="26791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IBM PC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617720" y="288950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IBM lanza la PC estándar con MS-DOS de Microsoft.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464808" y="1947672"/>
            <a:ext cx="146304" cy="146304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5"/>
          <p:cNvCxnSpPr/>
          <p:nvPr/>
        </p:nvCxnSpPr>
        <p:spPr>
          <a:xfrm>
            <a:off x="6537960" y="14173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BC8C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/>
          <p:nvPr/>
        </p:nvSpPr>
        <p:spPr>
          <a:xfrm>
            <a:off x="5989320" y="868680"/>
            <a:ext cx="1280160" cy="109728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989320" y="9144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1984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989320" y="1170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Macintosh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035040" y="13807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Apple lanza el Mac con interfaz gráfica y ratón para el público.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882128" y="1947672"/>
            <a:ext cx="146304" cy="146304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5"/>
          <p:cNvCxnSpPr/>
          <p:nvPr/>
        </p:nvCxnSpPr>
        <p:spPr>
          <a:xfrm>
            <a:off x="7955280" y="2084832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BC8C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5"/>
          <p:cNvSpPr/>
          <p:nvPr/>
        </p:nvSpPr>
        <p:spPr>
          <a:xfrm>
            <a:off x="7406640" y="2377440"/>
            <a:ext cx="1280160" cy="1234440"/>
          </a:xfrm>
          <a:prstGeom prst="rect">
            <a:avLst/>
          </a:prstGeom>
          <a:solidFill>
            <a:srgbClr val="1C2128"/>
          </a:solidFill>
          <a:ln cap="flat" cmpd="sng" w="101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7406640" y="24231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1990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7406640" y="26791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3.0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452360" y="288950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Microsoft lanza Windows 3.0 y domina el mercado de OS.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🔧  HARDWARE: Componentes del Computador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28600" y="91440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28600" y="914400"/>
            <a:ext cx="2011680" cy="73152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22860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28600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20040" y="167335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Cerebro del computador. Ejecuta instrucciones. Evolución: 4 bits → 64 bits (Intel, AMD)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423160" y="91440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423160" y="914400"/>
            <a:ext cx="2011680" cy="73152"/>
          </a:xfrm>
          <a:prstGeom prst="rect">
            <a:avLst/>
          </a:prstGeom>
          <a:solidFill>
            <a:srgbClr val="4ECDC4"/>
          </a:solidFill>
          <a:ln cap="flat" cmpd="sng" w="127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242316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423160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ECDC4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514600" y="167335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Memoria temporal de trabajo. 4KB (1970s) → 64GB+ (hoy). DDR1→DDR5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617720" y="91440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45B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617720" y="914400"/>
            <a:ext cx="2011680" cy="73152"/>
          </a:xfrm>
          <a:prstGeom prst="rect">
            <a:avLst/>
          </a:prstGeom>
          <a:solidFill>
            <a:srgbClr val="45B7D1"/>
          </a:solidFill>
          <a:ln cap="flat" cmpd="sng" w="12700">
            <a:solidFill>
              <a:srgbClr val="45B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61772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617720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B7D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5B7D1"/>
                </a:solidFill>
                <a:latin typeface="Calibri"/>
                <a:ea typeface="Calibri"/>
                <a:cs typeface="Calibri"/>
                <a:sym typeface="Calibri"/>
              </a:rPr>
              <a:t>Disco Duro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709160" y="167335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Almacenamiento permanente. HDD → SSD → NVMe. De MB a TB.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812280" y="91440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96CE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812280" y="914400"/>
            <a:ext cx="2011680" cy="73152"/>
          </a:xfrm>
          <a:prstGeom prst="rect">
            <a:avLst/>
          </a:prstGeom>
          <a:solidFill>
            <a:srgbClr val="96CEB4"/>
          </a:solidFill>
          <a:ln cap="flat" cmpd="sng" w="12700">
            <a:solidFill>
              <a:srgbClr val="96CE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681228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812280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6CEB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6CEB4"/>
                </a:solidFill>
                <a:latin typeface="Calibri"/>
                <a:ea typeface="Calibri"/>
                <a:cs typeface="Calibri"/>
                <a:sym typeface="Calibri"/>
              </a:rPr>
              <a:t>Tarjeta Madre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903720" y="167335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Conecta todos los componentes. Contiene BIOS/UEFI y buses de datos.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228600" y="288036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DDA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28600" y="2880360"/>
            <a:ext cx="2011680" cy="73152"/>
          </a:xfrm>
          <a:prstGeom prst="rect">
            <a:avLst/>
          </a:prstGeom>
          <a:solidFill>
            <a:srgbClr val="DDA0DD"/>
          </a:solidFill>
          <a:ln cap="flat" cmpd="sng" w="12700">
            <a:solidFill>
              <a:srgbClr val="DDA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228600" y="3017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2860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A0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A0DD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20040" y="363931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Procesa gráficos. Hoy usada también para IA y machine learning.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423160" y="288036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F0E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2423160" y="2880360"/>
            <a:ext cx="2011680" cy="73152"/>
          </a:xfrm>
          <a:prstGeom prst="rect">
            <a:avLst/>
          </a:prstGeom>
          <a:solidFill>
            <a:srgbClr val="F0E68C"/>
          </a:solidFill>
          <a:ln cap="flat" cmpd="sng" w="12700">
            <a:solidFill>
              <a:srgbClr val="F0E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2423160" y="3017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242316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E6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68C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514600" y="363931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Convierte corriente AC a DC. Alimenta todos los componentes.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617720" y="288036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617720" y="2880360"/>
            <a:ext cx="2011680" cy="73152"/>
          </a:xfrm>
          <a:prstGeom prst="rect">
            <a:avLst/>
          </a:prstGeom>
          <a:solidFill>
            <a:srgbClr val="FFB347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617720" y="3017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61772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Óptico/USB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709160" y="363931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CD → DVD → Blu-ray → USB Flash. Almacenamiento portátil externo.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812280" y="2880360"/>
            <a:ext cx="2011680" cy="17830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87C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812280" y="2880360"/>
            <a:ext cx="2011680" cy="73152"/>
          </a:xfrm>
          <a:prstGeom prst="rect">
            <a:avLst/>
          </a:prstGeom>
          <a:solidFill>
            <a:srgbClr val="87CEEB"/>
          </a:solidFill>
          <a:ln cap="flat" cmpd="sng" w="12700">
            <a:solidFill>
              <a:srgbClr val="87C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6812280" y="3017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81228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CE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7CEEB"/>
                </a:solidFill>
                <a:latin typeface="Calibri"/>
                <a:ea typeface="Calibri"/>
                <a:cs typeface="Calibri"/>
                <a:sym typeface="Calibri"/>
              </a:rPr>
              <a:t>Red/WiFi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903720" y="363931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Tarjeta de red (Ethernet) y WiFi para conectividad a Internet.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41E3A"/>
          </a:solidFill>
          <a:ln cap="flat" cmpd="sng" w="127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💻  SOFTWARE: Historia y Tipos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65760" y="1005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📂  TIPOS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1148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  Software de Sistema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11480" y="16733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OS, drivers, BIOS. Gestiona el hardware.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11480" y="212140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 Software de Aplicación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11480" y="23774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Apps, navegadores, Office, juegos.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11480" y="28254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Software de Programación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11480" y="308152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IDEs, compiladores, intérpretes, depuradores.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11480" y="352958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 Software de Seguridad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11480" y="378561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Antivirus, firewall, encriptación.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11480" y="42336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  Software en la Nube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11480" y="448970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SaaS, PaaS, IaaS. Google Docs, Netflix.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🖥️  EVOLUCIÓN DE SISTEMAS OPERATIVOS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663440" y="1417320"/>
            <a:ext cx="502920" cy="347472"/>
          </a:xfrm>
          <a:prstGeom prst="rect">
            <a:avLst/>
          </a:prstGeom>
          <a:solidFill>
            <a:srgbClr val="C41E3A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663440" y="142646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5230368" y="146304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GM-NAA I/O — Primer sistema operativo de la historia.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663440" y="1965960"/>
            <a:ext cx="502920" cy="347472"/>
          </a:xfrm>
          <a:prstGeom prst="rect">
            <a:avLst/>
          </a:prstGeom>
          <a:solidFill>
            <a:srgbClr val="C41E3A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4663440" y="197510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1969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230368" y="20116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Unix — Base de Linux, macOS y Android.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663440" y="2514600"/>
            <a:ext cx="502920" cy="347472"/>
          </a:xfrm>
          <a:prstGeom prst="rect">
            <a:avLst/>
          </a:prstGeom>
          <a:solidFill>
            <a:srgbClr val="C41E3A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663440" y="252374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230368" y="25603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MS-DOS — Sistema de Microsoft para la IBM PC.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663440" y="3063240"/>
            <a:ext cx="502920" cy="347472"/>
          </a:xfrm>
          <a:prstGeom prst="rect">
            <a:avLst/>
          </a:prstGeom>
          <a:solidFill>
            <a:srgbClr val="C41E3A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663440" y="307238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230368" y="31089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Mac OS — Primera interfaz gráfica para el público.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663440" y="3611880"/>
            <a:ext cx="502920" cy="347472"/>
          </a:xfrm>
          <a:prstGeom prst="rect">
            <a:avLst/>
          </a:prstGeom>
          <a:solidFill>
            <a:srgbClr val="C41E3A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4663440" y="362102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230368" y="365760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Linux — Código abierto. Hoy en servidores y Android.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663440" y="4160520"/>
            <a:ext cx="502920" cy="347472"/>
          </a:xfrm>
          <a:prstGeom prst="rect">
            <a:avLst/>
          </a:prstGeom>
          <a:solidFill>
            <a:srgbClr val="C41E3A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4663440" y="416966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230368" y="420624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iOS / Android — OS móviles que dominan el mundo actual.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  LENGUAJES DE PROGRAMACIÓN: Historia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28600" y="91440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DDA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228600" y="914400"/>
            <a:ext cx="2011680" cy="274320"/>
          </a:xfrm>
          <a:prstGeom prst="rect">
            <a:avLst/>
          </a:prstGeom>
          <a:solidFill>
            <a:srgbClr val="DDA0DD">
              <a:alpha val="50196"/>
            </a:srgbClr>
          </a:solidFill>
          <a:ln cap="flat" cmpd="sng" w="12700">
            <a:solidFill>
              <a:srgbClr val="DDA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228600" y="9326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22860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A0D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DDA0DD"/>
                </a:solidFill>
                <a:latin typeface="Arial Black"/>
                <a:ea typeface="Arial Black"/>
                <a:cs typeface="Arial Black"/>
                <a:sym typeface="Arial Black"/>
              </a:rPr>
              <a:t>Algoritmo de 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228600" y="1581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Pre-historia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20040" y="181051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 algoritmo para máquina (Babbage Engine).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2423160" y="91440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2423160" y="914400"/>
            <a:ext cx="2011680" cy="274320"/>
          </a:xfrm>
          <a:prstGeom prst="rect">
            <a:avLst/>
          </a:prstGeom>
          <a:solidFill>
            <a:srgbClr val="FF8C00">
              <a:alpha val="50196"/>
            </a:srgbClr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2423160" y="9326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42316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8C00"/>
                </a:solidFill>
                <a:latin typeface="Arial Black"/>
                <a:ea typeface="Arial Black"/>
                <a:cs typeface="Arial Black"/>
                <a:sym typeface="Arial Black"/>
              </a:rPr>
              <a:t>FORTRAN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423160" y="1581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[ 1ª gen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2514600" y="181051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Primer lenguaje de alto nivel. Para cálculos científicos.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617720" y="91440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4617720" y="914400"/>
            <a:ext cx="2011680" cy="274320"/>
          </a:xfrm>
          <a:prstGeom prst="rect">
            <a:avLst/>
          </a:prstGeom>
          <a:solidFill>
            <a:srgbClr val="4169E1">
              <a:alpha val="50196"/>
            </a:srgbClr>
          </a:solidFill>
          <a:ln cap="flat" cmpd="sng" w="1270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4617720" y="9326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61772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69E1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4169E1"/>
                </a:solidFill>
                <a:latin typeface="Arial Black"/>
                <a:ea typeface="Arial Black"/>
                <a:cs typeface="Arial Black"/>
                <a:sym typeface="Arial Black"/>
              </a:rPr>
              <a:t>COBOL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617720" y="1581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[ 1ª gen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709160" y="181051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Para negocios y bancos. Aún usado hoy en mainframes.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812280" y="91440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A8A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solidFill>
            <a:srgbClr val="A8A8A8">
              <a:alpha val="50196"/>
            </a:srgbClr>
          </a:solidFill>
          <a:ln cap="flat" cmpd="sng" w="12700">
            <a:solidFill>
              <a:srgbClr val="A8A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6812280" y="9326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1972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81228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A8A8A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812280" y="1581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[ 2ª gen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903720" y="181051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Base de sistemas operativos. Padre de C++, Java, Python.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28600" y="292608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00CE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228600" y="2926080"/>
            <a:ext cx="2011680" cy="274320"/>
          </a:xfrm>
          <a:prstGeom prst="rect">
            <a:avLst/>
          </a:prstGeom>
          <a:solidFill>
            <a:srgbClr val="00CED1">
              <a:alpha val="50196"/>
            </a:srgbClr>
          </a:solidFill>
          <a:ln cap="flat" cmpd="sng" w="12700">
            <a:solidFill>
              <a:srgbClr val="00CE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228600" y="29443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22860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ED1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CED1"/>
                </a:solidFill>
                <a:latin typeface="Arial Black"/>
                <a:ea typeface="Arial Black"/>
                <a:cs typeface="Arial Black"/>
                <a:sym typeface="Arial Black"/>
              </a:rPr>
              <a:t>C++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28600" y="35935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[ 3ª gen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20040" y="382219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Añade orientación a objetos a C. Videojuegos y sistemas.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2423160" y="292608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2423160" y="2926080"/>
            <a:ext cx="2011680" cy="274320"/>
          </a:xfrm>
          <a:prstGeom prst="rect">
            <a:avLst/>
          </a:prstGeom>
          <a:solidFill>
            <a:srgbClr val="3776AB">
              <a:alpha val="50196"/>
            </a:srgbClr>
          </a:solidFill>
          <a:ln cap="flat" cmpd="sng" w="12700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2423160" y="29443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42316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6AB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3776AB"/>
                </a:solidFill>
                <a:latin typeface="Arial Black"/>
                <a:ea typeface="Arial Black"/>
                <a:cs typeface="Arial Black"/>
                <a:sym typeface="Arial Black"/>
              </a:rPr>
              <a:t>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2423160" y="35935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Moderna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2514600" y="382219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Simple y versátil. Lidera en IA, Data Science y web.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617720" y="292608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F898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617720" y="2926080"/>
            <a:ext cx="2011680" cy="274320"/>
          </a:xfrm>
          <a:prstGeom prst="rect">
            <a:avLst/>
          </a:prstGeom>
          <a:solidFill>
            <a:srgbClr val="F89820">
              <a:alpha val="50196"/>
            </a:srgbClr>
          </a:solidFill>
          <a:ln cap="flat" cmpd="sng" w="12700">
            <a:solidFill>
              <a:srgbClr val="F898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4617720" y="29443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61772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89820"/>
                </a:solidFill>
                <a:latin typeface="Arial Black"/>
                <a:ea typeface="Arial Black"/>
                <a:cs typeface="Arial Black"/>
                <a:sym typeface="Arial Black"/>
              </a:rPr>
              <a:t>Java / 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617720" y="35935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Moderna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709160" y="382219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Java para apps. JavaScript para la web interactiva.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812280" y="2926080"/>
            <a:ext cx="2011680" cy="182880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FA7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812280" y="2926080"/>
            <a:ext cx="2011680" cy="274320"/>
          </a:xfrm>
          <a:prstGeom prst="rect">
            <a:avLst/>
          </a:prstGeom>
          <a:solidFill>
            <a:srgbClr val="FA7343">
              <a:alpha val="50196"/>
            </a:srgbClr>
          </a:solidFill>
          <a:ln cap="flat" cmpd="sng" w="12700">
            <a:solidFill>
              <a:srgbClr val="FA7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6812280" y="29443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681228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343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A7343"/>
                </a:solidFill>
                <a:latin typeface="Arial Black"/>
                <a:ea typeface="Arial Black"/>
                <a:cs typeface="Arial Black"/>
                <a:sym typeface="Arial Black"/>
              </a:rPr>
              <a:t>Swift / Kotlin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812280" y="35935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[ Actual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903720" y="3822192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Lenguajes modernos para apps iOS y Android.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🚀  ERA MODERNA: Internet, Móviles y la Nube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74320" y="914400"/>
            <a:ext cx="2651760" cy="384048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274320" y="914400"/>
            <a:ext cx="2651760" cy="502920"/>
          </a:xfrm>
          <a:prstGeom prst="rect">
            <a:avLst/>
          </a:prstGeom>
          <a:solidFill>
            <a:srgbClr val="1F6FEB">
              <a:alpha val="40000"/>
            </a:srgbClr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365760" y="96926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Internet (1990s)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11480" y="1536192"/>
            <a:ext cx="73152" cy="73152"/>
          </a:xfrm>
          <a:prstGeom prst="ellipse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548640" y="1490472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Tim Berners-Lee inventa la WWW en 1991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11480" y="2148840"/>
            <a:ext cx="73152" cy="73152"/>
          </a:xfrm>
          <a:prstGeom prst="ellipse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548640" y="2103120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HTTP, HTML, y el primer navegador 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11480" y="2761488"/>
            <a:ext cx="73152" cy="73152"/>
          </a:xfrm>
          <a:prstGeom prst="ellipse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548640" y="2715768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Internet Explorer vs Netscape (browser wars)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11480" y="3374136"/>
            <a:ext cx="73152" cy="73152"/>
          </a:xfrm>
          <a:prstGeom prst="ellipse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48640" y="3328416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Google fundado en 1998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11480" y="3986784"/>
            <a:ext cx="73152" cy="73152"/>
          </a:xfrm>
          <a:prstGeom prst="ellipse">
            <a:avLst/>
          </a:prstGeom>
          <a:solidFill>
            <a:srgbClr val="1F6FEB"/>
          </a:solidFill>
          <a:ln cap="flat" cmpd="sng" w="1270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548640" y="3941064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La burbuja .com y el e-commerce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200400" y="914400"/>
            <a:ext cx="2651760" cy="384048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3200400" y="914400"/>
            <a:ext cx="2651760" cy="502920"/>
          </a:xfrm>
          <a:prstGeom prst="rect">
            <a:avLst/>
          </a:prstGeom>
          <a:solidFill>
            <a:srgbClr val="39D353">
              <a:alpha val="40000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3291840" y="96926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 Era Móvil (2007+)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337560" y="1536192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3474720" y="1490472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iPhone lanzado en 2007: revolución táctil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337560" y="2148840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3474720" y="2103120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Android (Google) en 2008: código abierto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337560" y="2761488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474720" y="2715768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App Store y Google Play: economía de apps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3337560" y="3374136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3474720" y="3328416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4G y 5G: internet veloz en todas partes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337560" y="3986784"/>
            <a:ext cx="73152" cy="73152"/>
          </a:xfrm>
          <a:prstGeom prst="ellipse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3474720" y="3941064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Smartphones superan a las PCs en uso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126480" y="914400"/>
            <a:ext cx="2651760" cy="3840480"/>
          </a:xfrm>
          <a:prstGeom prst="rect">
            <a:avLst/>
          </a:prstGeom>
          <a:solidFill>
            <a:srgbClr val="1C2128"/>
          </a:solidFill>
          <a:ln cap="flat" cmpd="sng" w="15225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BC8CFF">
              <a:alpha val="40000"/>
            </a:srgbClr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217920" y="96926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  Nube e IA (2010+)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263640" y="1536192"/>
            <a:ext cx="73152" cy="73152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6400800" y="1490472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AWS, Azure, Google Cloud: computación como servicio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263640" y="2148840"/>
            <a:ext cx="73152" cy="73152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400800" y="2103120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Big Data y Machine Learning masivos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263640" y="2761488"/>
            <a:ext cx="73152" cy="73152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400800" y="2715768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ChatGPT y LLMs: IA conversacional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6263640" y="3374136"/>
            <a:ext cx="73152" cy="73152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400800" y="3328416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IoT: objetos conectados a Internet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6263640" y="3986784"/>
            <a:ext cx="73152" cy="73152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6400800" y="3941064"/>
            <a:ext cx="2240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Edge computing y cuántica en desarrollo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" name="Google Shape;393;p10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10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10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10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10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0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0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0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10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10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10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0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10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10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10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0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0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0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10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1C2128"/>
          </a:solidFill>
          <a:ln cap="flat" cmpd="sng" w="1905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548640" y="438912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39D353"/>
                </a:solidFill>
                <a:latin typeface="Arial Black"/>
                <a:ea typeface="Arial Black"/>
                <a:cs typeface="Arial Black"/>
                <a:sym typeface="Arial Black"/>
              </a:rPr>
              <a:t>🔮  EL FUTURO: ¿Hacia dónde vamos?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48640" y="8686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 los tubos de vacío a la inteligencia artificial en menos de 80 años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57200" y="1554480"/>
            <a:ext cx="4023360" cy="15087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457200" y="1554480"/>
            <a:ext cx="73152" cy="150876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640080" y="16642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⚛️  Computación Cuántica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640080" y="201168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Qubits en vez de bits. Google y IBM ya tienen computadores cuánticos. Resolverán problemas imposibles hoy.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800600" y="1554480"/>
            <a:ext cx="4023360" cy="15087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4800600" y="1554480"/>
            <a:ext cx="73152" cy="150876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983480" y="16642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🧠  Inteligencia Artificial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983480" y="201168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LLMs, visión artificial, robótica. La IA ya supera a humanos en tareas específicas.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57200" y="3246120"/>
            <a:ext cx="4023360" cy="15087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457200" y="3246120"/>
            <a:ext cx="73152" cy="1508760"/>
          </a:xfrm>
          <a:prstGeom prst="rect">
            <a:avLst/>
          </a:prstGeom>
          <a:solidFill>
            <a:srgbClr val="4ECDC4"/>
          </a:solidFill>
          <a:ln cap="flat" cmpd="sng" w="127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640080" y="335584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ECDC4"/>
                </a:solidFill>
                <a:latin typeface="Calibri"/>
                <a:ea typeface="Calibri"/>
                <a:cs typeface="Calibri"/>
                <a:sym typeface="Calibri"/>
              </a:rPr>
              <a:t>🥽  Realidad Virtual / 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640080" y="370332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Metaverso, viseras AR/VR. Apple Vision Pro, Meta Quest. El siguiente interfaz humano-computador.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800600" y="3246120"/>
            <a:ext cx="4023360" cy="15087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F0E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4800600" y="3246120"/>
            <a:ext cx="73152" cy="1508760"/>
          </a:xfrm>
          <a:prstGeom prst="rect">
            <a:avLst/>
          </a:prstGeom>
          <a:solidFill>
            <a:srgbClr val="F0E68C"/>
          </a:solidFill>
          <a:ln cap="flat" cmpd="sng" w="12700">
            <a:solidFill>
              <a:srgbClr val="F0E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4983480" y="335584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6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E68C"/>
                </a:solidFill>
                <a:latin typeface="Calibri"/>
                <a:ea typeface="Calibri"/>
                <a:cs typeface="Calibri"/>
                <a:sym typeface="Calibri"/>
              </a:rPr>
              <a:t>🧬  Computación Biológica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983480" y="370332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DNA computing y chips neuromórficos que imitan el cerebro humano. Intel Loihi, IBM NorthPole.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Google Shape;437;p1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11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11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11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11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11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11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11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11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11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1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11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1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11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11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11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1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11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11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11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11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11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1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1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11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11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1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1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1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1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1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1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6FE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11"/>
          <p:cNvSpPr/>
          <p:nvPr/>
        </p:nvSpPr>
        <p:spPr>
          <a:xfrm>
            <a:off x="914400" y="731520"/>
            <a:ext cx="7315200" cy="3657600"/>
          </a:xfrm>
          <a:prstGeom prst="rect">
            <a:avLst/>
          </a:prstGeom>
          <a:solidFill>
            <a:srgbClr val="1C2128"/>
          </a:solidFill>
          <a:ln cap="flat" cmpd="sng" w="190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914400" y="731520"/>
            <a:ext cx="7315200" cy="9144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🏁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914400" y="17830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 la Máquina de Babbage al Siglo XXI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El computador es el invento más transformador de la humanidad.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 80 años pasamos de máquinas de 30 toneladas a supercomputadores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 el bolsillo — y esto es solo el comienzo.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1645920" y="3611880"/>
            <a:ext cx="1828800" cy="548640"/>
          </a:xfrm>
          <a:prstGeom prst="rect">
            <a:avLst/>
          </a:prstGeom>
          <a:solidFill>
            <a:srgbClr val="1F6FEB">
              <a:alpha val="30196"/>
            </a:srgbClr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1645920" y="3630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Diapositivas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3657600" y="3611880"/>
            <a:ext cx="1828800" cy="548640"/>
          </a:xfrm>
          <a:prstGeom prst="rect">
            <a:avLst/>
          </a:prstGeom>
          <a:solidFill>
            <a:srgbClr val="1F6FEB">
              <a:alpha val="30196"/>
            </a:srgbClr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3657600" y="3630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5+ Generaciones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5669280" y="3611880"/>
            <a:ext cx="1828800" cy="548640"/>
          </a:xfrm>
          <a:prstGeom prst="rect">
            <a:avLst/>
          </a:prstGeom>
          <a:solidFill>
            <a:srgbClr val="1F6FEB">
              <a:alpha val="30196"/>
            </a:srgbClr>
          </a:solidFill>
          <a:ln cap="flat" cmpd="sng" w="10150">
            <a:solidFill>
              <a:srgbClr val="1F6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5669280" y="3630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50+ Hitos históricos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2026-05-08T00:18:18Z</dcterms:created>
  <dc:creator>PptxGenJS</dc:creator>
</cp:coreProperties>
</file>